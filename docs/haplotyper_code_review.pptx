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7116" y="1085850"/>
            <a:ext cx="1149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470416" y="1550640"/>
            <a:ext cx="42031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Graph-Probabilistic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516262" y="2141190"/>
            <a:ext cx="41113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spcAft>
                <a:spcPts val="120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Haplotype Reconstruction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3379726" y="2769840"/>
            <a:ext cx="23845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25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PacBio HiFi Metagenomic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1000" y="3421261"/>
            <a:ext cx="762000" cy="381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59423" y="3897511"/>
            <a:ext cx="2225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Renee Oles | Chu and Knight Labs | UCSD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556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Strain Deconvolution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4076700" cy="738932"/>
          </a:xfrm>
          <a:prstGeom prst="roundRect">
            <a:avLst>
              <a:gd name="adj" fmla="val 773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914400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5300" y="1131540"/>
            <a:ext cx="392506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Metagenomic reads come from a mixture of bacterial strains. Each strain has different mutations. Which mutations belong together?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653332"/>
            <a:ext cx="4076700" cy="8001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76763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reads: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5300" y="193908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Read1: A-C-G = Strain A?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207243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Read2: A-T-G = Strain B?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5300" y="220578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Read3: G-T-A = Noise?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567732"/>
            <a:ext cx="4076700" cy="738932"/>
          </a:xfrm>
          <a:prstGeom prst="roundRect">
            <a:avLst>
              <a:gd name="adj" fmla="val 773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2682032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300" y="2899172"/>
            <a:ext cx="392506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haplotypes (co-occurring SNV patterns) and estimate their abundances.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86300" y="800100"/>
            <a:ext cx="4158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Hybrid Approach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86300" y="1049536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Graph Initialization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27233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similar reads via Louvain clustering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86300" y="1519982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EM Refinement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74277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Probabilistically assign reads to haplotypes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86300" y="1990427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Window Linking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21322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haplotypes across genomic windows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86300" y="2460873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Longitudinal Rescue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683669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multi-timepoint data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86300" y="2969419"/>
            <a:ext cx="4076700" cy="323850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1550" y="306466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Graph gives EM a warm start for faster, better convergence.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and Overlapping Windows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733550"/>
            <a:ext cx="4114800" cy="546646"/>
          </a:xfrm>
          <a:prstGeom prst="roundRect">
            <a:avLst>
              <a:gd name="adj" fmla="val 104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84785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VCF Input (Clair3)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203254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 positions, filters: PASS, biallelic, depth 10+, AF 5-95%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48200" y="1733550"/>
            <a:ext cx="4114800" cy="546646"/>
          </a:xfrm>
          <a:prstGeom prst="roundRect">
            <a:avLst>
              <a:gd name="adj" fmla="val 104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0" y="184785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 Input (Aligned)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0" y="203254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PacBio HiFi reads, filters: MAPQ 20+, base Q 10+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394496"/>
            <a:ext cx="8382000" cy="1036290"/>
          </a:xfrm>
          <a:prstGeom prst="roundRect">
            <a:avLst>
              <a:gd name="adj" fmla="val 55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875" y="2537371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Overlapping Windows - Key 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875" y="2773561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10kb size, 5kb step creates 50% overlap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23875" y="2964061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1: [0-10kb] | Window 2: [5kb-15kb] | Window 3: [10kb-20kb]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3875" y="3154561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windows share SNV positions for linking later!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1000" y="3545086"/>
            <a:ext cx="2717750" cy="601861"/>
          </a:xfrm>
          <a:prstGeom prst="roundRect">
            <a:avLst>
              <a:gd name="adj" fmla="val 949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640336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50% Overlap?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6250" y="3811786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SNVs let us link haplotypes across windows, tracking the same strain across the genome.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213050" y="3605064"/>
            <a:ext cx="2717750" cy="481905"/>
          </a:xfrm>
          <a:prstGeom prst="roundRect">
            <a:avLst>
              <a:gd name="adj" fmla="val 118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8300" y="3700314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Per-Window Requirements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08300" y="3871764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min_snvs: 3 | min_reads: 10 | max_reads: 100 (subsample)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045101" y="3611761"/>
            <a:ext cx="2717750" cy="468511"/>
          </a:xfrm>
          <a:prstGeom prst="roundRect">
            <a:avLst>
              <a:gd name="adj" fmla="val 1219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0351" y="3707011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Data Structure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40351" y="3878461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pos: base, quality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Read Overlap Graph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4095750" cy="679996"/>
          </a:xfrm>
          <a:prstGeom prst="roundRect">
            <a:avLst>
              <a:gd name="adj" fmla="val 840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08004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Intuition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264741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from the same strain should have identical alleles at shared SNV positions. Connect similar reads with edges.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40991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Creation Criteria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982837"/>
            <a:ext cx="4095750" cy="790277"/>
          </a:xfrm>
          <a:prstGeom prst="roundRect">
            <a:avLst>
              <a:gd name="adj" fmla="val 72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07808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j in read_pairs: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6250" y="219804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= positions_i AND positions_j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76250" y="2317998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len(shared) &lt; 3: skip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76250" y="243795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mismatch_frac = mismatches / shared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76250" y="2557909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frac &lt;= 0.02: add_edge(i, j)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2868364"/>
            <a:ext cx="4095750" cy="443805"/>
          </a:xfrm>
          <a:prstGeom prst="roundRect">
            <a:avLst>
              <a:gd name="adj" fmla="val 128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296361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weight = (1 - mismatch_frac) x n_shared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" y="309696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 pairs that agree over many positions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965746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4 Reads at 5 SNV positions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1207591"/>
            <a:ext cx="4095750" cy="689372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2025" y="131236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A C G - T  (blue cluster)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72025" y="143232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A C - A T  (blue cluster)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72025" y="155227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R3: A T G G -  (green cluster)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72025" y="1672233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R4: - T G G C  (green cluster)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67250" y="1992213"/>
            <a:ext cx="2009775" cy="378916"/>
          </a:xfrm>
          <a:prstGeom prst="roundRect">
            <a:avLst>
              <a:gd name="adj" fmla="val 100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3450" y="2068413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R1-R2: Connected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43450" y="2188369"/>
            <a:ext cx="18945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shared, 0 mismatch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753225" y="1992213"/>
            <a:ext cx="2009775" cy="378916"/>
          </a:xfrm>
          <a:prstGeom prst="roundRect">
            <a:avLst>
              <a:gd name="adj" fmla="val 100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29425" y="2068413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R3-R4: Connected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829425" y="2188369"/>
            <a:ext cx="18945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shared, 0 mismatch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667250" y="2466380"/>
            <a:ext cx="4095750" cy="378916"/>
          </a:xfrm>
          <a:prstGeom prst="roundRect">
            <a:avLst>
              <a:gd name="adj" fmla="val 100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3450" y="2542580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R1-R3: NOT connected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43450" y="2662535"/>
            <a:ext cx="402221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shared, 1 mismatch at pos 2 = 33% &gt; 2%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667250" y="2940546"/>
            <a:ext cx="4095750" cy="272355"/>
          </a:xfrm>
          <a:prstGeom prst="roundRect">
            <a:avLst>
              <a:gd name="adj" fmla="val 139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3450" y="3016746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Graph naturally separates into clusters representing different strains!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Louvain Works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207591"/>
            <a:ext cx="4095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4825" y="1331416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Initialize: Each node in its own community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4825" y="1521916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Local Moves: Move nodes to neighboring communities if it increases modularity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4825" y="1712416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Aggregate and Repeat: Collapse communities into super-nodes, repeat until stable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064841"/>
            <a:ext cx="4095750" cy="601861"/>
          </a:xfrm>
          <a:prstGeom prst="roundRect">
            <a:avLst>
              <a:gd name="adj" fmla="val 94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16009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Modularity?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6250" y="2331541"/>
            <a:ext cx="3983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connections within vs between communities. High modularity = tight clusters with few cross-connections.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761952"/>
            <a:ext cx="4095750" cy="481905"/>
          </a:xfrm>
          <a:prstGeom prst="roundRect">
            <a:avLst>
              <a:gd name="adj" fmla="val 1185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2857202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6250" y="3028652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python-louvain not installed, uses connected components (simpler but functional).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67250" y="965746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Clusters to Initial Haplotypes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1207591"/>
            <a:ext cx="4095750" cy="708422"/>
          </a:xfrm>
          <a:prstGeom prst="roundRect">
            <a:avLst>
              <a:gd name="adj" fmla="val 80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1302841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Derivation (per cluster)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0" y="146089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SNV position: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62500" y="1580852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alleles from cluster reads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62500" y="1700808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consensus[pos] = most_frequent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67250" y="2011263"/>
            <a:ext cx="4095750" cy="898922"/>
          </a:xfrm>
          <a:prstGeom prst="roundRect">
            <a:avLst>
              <a:gd name="adj" fmla="val 63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2116038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Cluster A (3 reads)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72025" y="2287488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100: A=3 votes, consensus = A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72025" y="2407444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200: C=2, T=1 votes, consensus = C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72025" y="2527399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300: G=3 votes, consensus = G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72025" y="2685455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Hap_A = A, C, G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67250" y="3005435"/>
            <a:ext cx="4095750" cy="481905"/>
          </a:xfrm>
          <a:prstGeom prst="roundRect">
            <a:avLst>
              <a:gd name="adj" fmla="val 118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310068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Initial Haplotype Candidates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62500" y="3272135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become the starting point for EM. Graph clustering gives EM a warm start!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67250" y="3582591"/>
            <a:ext cx="4095750" cy="272355"/>
          </a:xfrm>
          <a:prstGeom prst="roundRect">
            <a:avLst>
              <a:gd name="adj" fmla="val 1398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43450" y="3658791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Clusters with &lt;3 reads are dropped (min_reads_per_cluster)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54698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Algorithm: The Chicken-and-Egg Problem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356420"/>
            <a:ext cx="4114800" cy="1041946"/>
          </a:xfrm>
          <a:prstGeom prst="roundRect">
            <a:avLst>
              <a:gd name="adj" fmla="val 548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47072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Dilemma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67446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knew which reads belonged to which haplotype, we could easily compute consensus sequences.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5300" y="1979265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knew the haplotype sequences, we could easily assign reads by similarity.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5300" y="2150715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we know neither!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48200" y="1423095"/>
            <a:ext cx="4114800" cy="908596"/>
          </a:xfrm>
          <a:prstGeom prst="roundRect">
            <a:avLst>
              <a:gd name="adj" fmla="val 629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0" y="153739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Solves This Iteratively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0" y="174114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E-step: Given current haplotypes, compute probability each read came from each haplotype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62500" y="191259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M-step: Given read assignments, update haplotype sequences and abundances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62500" y="208404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convergence!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2512665"/>
            <a:ext cx="8382000" cy="1295251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875" y="2655540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875" y="2891730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come from a mixture of K haplotypes + junk: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3875" y="3082230"/>
            <a:ext cx="3952875" cy="28575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075" y="3158430"/>
            <a:ext cx="3876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P(read) = Sum_k pi_k x P(read | haplotype_k)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3875" y="3425130"/>
            <a:ext cx="4031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pi_k = abundance of haplotype k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23875" y="3545086"/>
            <a:ext cx="4031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P(read|hap) = how well read matches haplotype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67250" y="2984153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learn: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7250" y="3174653"/>
            <a:ext cx="4031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(abundances): [0.65, 0.30, 0.05] = 65% strain A, 30% strain B, 5% junk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67250" y="3313658"/>
            <a:ext cx="4031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Haplotypes: Consensus sequences for each strain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67250" y="3452664"/>
            <a:ext cx="4031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(assignments): P(read_i came from hap_k)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1000" y="3922216"/>
            <a:ext cx="4133850" cy="601861"/>
          </a:xfrm>
          <a:prstGeom prst="roundRect">
            <a:avLst>
              <a:gd name="adj" fmla="val 949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401746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 Initialization Matters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6250" y="4188916"/>
            <a:ext cx="40222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can get stuck in local optima. Starting from graph-derived clusters gives a better initial guess than random, leading to faster convergence and better solutions.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29150" y="3982194"/>
            <a:ext cx="4133850" cy="481905"/>
          </a:xfrm>
          <a:prstGeom prst="roundRect">
            <a:avLst>
              <a:gd name="adj" fmla="val 1185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4400" y="407744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Criteria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24400" y="4248894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Log-likelihood change &lt; 0.0001 OR max 20 iterations reached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DETAIL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59944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Gamma: The Responsibility Matrix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3723382" cy="699046"/>
          </a:xfrm>
          <a:prstGeom prst="roundRect">
            <a:avLst>
              <a:gd name="adj" fmla="val 817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080046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gamma?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283791"/>
            <a:ext cx="3564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matrix of probabilities telling us how confident we are that each read came from each haplotype.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60041"/>
            <a:ext cx="3723382" cy="798016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1864816"/>
            <a:ext cx="3584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Structure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5775" y="2055316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= reads (N total)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85775" y="2194322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= haplotypes + junk (K+1)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5775" y="2333327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gamma[i,k] = P(read_i came from hap_k)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653308"/>
            <a:ext cx="3723382" cy="481905"/>
          </a:xfrm>
          <a:prstGeom prst="roundRect">
            <a:avLst>
              <a:gd name="adj" fmla="val 118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2748558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6250" y="2920008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sums to 1.0. The read must have come from somewhere!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230463"/>
            <a:ext cx="3723382" cy="620911"/>
          </a:xfrm>
          <a:prstGeom prst="roundRect">
            <a:avLst>
              <a:gd name="adj" fmla="val 920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325713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vs Hard Assignment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6250" y="3497163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(gamma): Read_0 is 95% Hap_0, 3% Hap_1, 2% junk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" y="3636169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Hard: Read_0 goes to Hap_0 (if 95% &gt;= 90% threshold)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294882" y="965746"/>
            <a:ext cx="455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Example: 3 Reads, 2 Haps + Junk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294882" y="1207591"/>
            <a:ext cx="4468118" cy="765572"/>
          </a:xfrm>
          <a:prstGeom prst="roundRect">
            <a:avLst>
              <a:gd name="adj" fmla="val 74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99657" y="1312366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Hap_0  Hap_1  Junk   Meaning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399657" y="1470422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Read_0:  0.95   0.03   0.02   Confident: Hap_0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399657" y="1609427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Read_1:  0.04   0.91   0.05   Confident: Hap_1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399657" y="1748433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Read_2:  0.40   0.35   0.25   Ambiguous!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294882" y="2068413"/>
            <a:ext cx="1438573" cy="504527"/>
          </a:xfrm>
          <a:prstGeom prst="roundRect">
            <a:avLst>
              <a:gd name="adj" fmla="val 755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71082" y="2144613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Read_0: Clear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371082" y="2283619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 &gt;= 0.90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371082" y="23901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Hap_0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809655" y="2068413"/>
            <a:ext cx="1438573" cy="504527"/>
          </a:xfrm>
          <a:prstGeom prst="roundRect">
            <a:avLst>
              <a:gd name="adj" fmla="val 755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85855" y="2144613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Read_1: Clear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885855" y="2283619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 &gt;= 0.90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885855" y="23901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Hap_1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324427" y="2068413"/>
            <a:ext cx="1438573" cy="504527"/>
          </a:xfrm>
          <a:prstGeom prst="roundRect">
            <a:avLst>
              <a:gd name="adj" fmla="val 755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00627" y="2144613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Read_2: Unclear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7400627" y="2283619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 &lt; 0.90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400627" y="23901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ambiguous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294882" y="2668191"/>
            <a:ext cx="4468118" cy="601861"/>
          </a:xfrm>
          <a:prstGeom prst="roundRect">
            <a:avLst>
              <a:gd name="adj" fmla="val 949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90132" y="2763441"/>
            <a:ext cx="4363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Soft Assignments Matter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90132" y="2934891"/>
            <a:ext cx="43631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ambiguous reads contribute to consensus updates. Read_2 adds 0.40 weight to Hap_0 and 0.35 to Hap_1. This uses ALL available information.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E-STEP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55475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Expectation: How well does each read match?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3723382" cy="679996"/>
          </a:xfrm>
          <a:prstGeom prst="roundRect">
            <a:avLst>
              <a:gd name="adj" fmla="val 840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080046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264741"/>
            <a:ext cx="3564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current haplotypes and abundances, what is the probability this read came from haplotype k?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40991"/>
            <a:ext cx="3723382" cy="601861"/>
          </a:xfrm>
          <a:prstGeom prst="roundRect">
            <a:avLst>
              <a:gd name="adj" fmla="val 94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1836241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2007691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gamma[i,k] = pi_k x P(read_i|hap_k)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6250" y="2127647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Sum_j pi_j x P(read_i|hap_j)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438102"/>
            <a:ext cx="3723382" cy="639961"/>
          </a:xfrm>
          <a:prstGeom prst="roundRect">
            <a:avLst>
              <a:gd name="adj" fmla="val 8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" y="2542877"/>
            <a:ext cx="3584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5775" y="2714327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Numerator: (abundance of hap_k) x (match quality)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5775" y="2853333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Denominator: Sum over ALL haplotypes (normalization)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173313"/>
            <a:ext cx="3723382" cy="588466"/>
          </a:xfrm>
          <a:prstGeom prst="roundRect">
            <a:avLst>
              <a:gd name="adj" fmla="val 97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268563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P(read | haplotype)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76250" y="3426619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of base likelihoods: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" y="3546574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P(read|hap) = Product_pos P(base|hap,Q)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294882" y="965746"/>
            <a:ext cx="455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294882" y="1188541"/>
            <a:ext cx="4468118" cy="607516"/>
          </a:xfrm>
          <a:prstGeom prst="roundRect">
            <a:avLst>
              <a:gd name="adj" fmla="val 9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0607" y="1274266"/>
            <a:ext cx="43826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= ACGT at 4 positions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380607" y="1432322"/>
            <a:ext cx="43826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Hap_0 = ACGT (perfect match), Hap_1 = ATGT (differs at pos 2)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380607" y="1590377"/>
            <a:ext cx="43826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Abundances: pi = [0.60, 0.30, 0.10]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294882" y="1872258"/>
            <a:ext cx="4468118" cy="531316"/>
          </a:xfrm>
          <a:prstGeom prst="roundRect">
            <a:avLst>
              <a:gd name="adj" fmla="val 1075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71082" y="1948458"/>
            <a:ext cx="4402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probability (Q=30, error=0.001):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371082" y="2087463"/>
            <a:ext cx="4402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Match:    P = 0.999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371082" y="2207419"/>
            <a:ext cx="4402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Mismatch: P = 0.001/3 = 0.00033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294882" y="2479774"/>
            <a:ext cx="2195959" cy="504527"/>
          </a:xfrm>
          <a:prstGeom prst="roundRect">
            <a:avLst>
              <a:gd name="adj" fmla="val 755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71082" y="2555974"/>
            <a:ext cx="20844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P(read | Hap_0)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371082" y="2694980"/>
            <a:ext cx="20844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 match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371082" y="2801541"/>
            <a:ext cx="20844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0.999^4 = 0.996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567041" y="2479774"/>
            <a:ext cx="2195959" cy="504527"/>
          </a:xfrm>
          <a:prstGeom prst="roundRect">
            <a:avLst>
              <a:gd name="adj" fmla="val 755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43241" y="2555974"/>
            <a:ext cx="20844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P(read | Hap_1)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643241" y="2694980"/>
            <a:ext cx="20844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match, 1 mismatch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643241" y="2801541"/>
            <a:ext cx="20844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0.999^3 x 0.00033 = 0.00033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94882" y="3060502"/>
            <a:ext cx="4468118" cy="504527"/>
          </a:xfrm>
          <a:prstGeom prst="roundRect">
            <a:avLst>
              <a:gd name="adj" fmla="val 1132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71082" y="3136702"/>
            <a:ext cx="4402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gamma: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371082" y="3275707"/>
            <a:ext cx="44020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gamma[Hap_0] = 0.60 x 0.996 / total = 0.9998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371082" y="3382268"/>
            <a:ext cx="44020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gamma[Hap_1] = 0.30 x 0.00033 / total = 0.0002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294882" y="3641229"/>
            <a:ext cx="4468118" cy="397966"/>
          </a:xfrm>
          <a:prstGeom prst="roundRect">
            <a:avLst>
              <a:gd name="adj" fmla="val 1436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71082" y="3717429"/>
            <a:ext cx="4402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371082" y="3856434"/>
            <a:ext cx="44020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mismatch at Q30 reduces probability by 3000x! HiFi low error rate gives clean separation.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M-STEP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6130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Maximization: Update Haplotypes and Abundances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3797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Update Abundances (pi)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220986"/>
            <a:ext cx="3723382" cy="4572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316236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pi_k = (Sum_i gamma[i,k] + alpha-1)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1449586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(N + K*(alpha-1))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1773436"/>
            <a:ext cx="3723382" cy="62091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" y="1878211"/>
            <a:ext cx="3584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5775" y="2049661"/>
            <a:ext cx="35841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up how much responsibility each haplotype has for all reads (gamma column sum), then normalize.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489597"/>
            <a:ext cx="3723382" cy="601861"/>
          </a:xfrm>
          <a:prstGeom prst="roundRect">
            <a:avLst>
              <a:gd name="adj" fmla="val 949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584847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6250" y="2756297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gamma column for Hap_0 sums to 65 (out of 100 reads):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6250" y="2876252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pi[Hap_0] = 65/100 = 0.65 (65% abundance)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186708"/>
            <a:ext cx="3723382" cy="481905"/>
          </a:xfrm>
          <a:prstGeom prst="roundRect">
            <a:avLst>
              <a:gd name="adj" fmla="val 1185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281958"/>
            <a:ext cx="3603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6250" y="3453408"/>
            <a:ext cx="36035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effective weight N_k &lt; 3 reads, the haplotype is dropped. Its mass moves to junk.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294882" y="965746"/>
            <a:ext cx="4557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Update Haplotype Consensus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4882" y="1220986"/>
            <a:ext cx="4468118" cy="910233"/>
          </a:xfrm>
          <a:prstGeom prst="roundRect">
            <a:avLst>
              <a:gd name="adj" fmla="val 62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90132" y="1316236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haplotype k: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390132" y="1436191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SNV position p: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390132" y="1556147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read i with call at p: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390132" y="1676102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gamma[i,k] x quality_weight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390132" y="1796058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vote[p][base] += w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390132" y="1916013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consensus[k][p] = argmax(vote[p])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294882" y="2226469"/>
            <a:ext cx="4468118" cy="937022"/>
          </a:xfrm>
          <a:prstGeom prst="roundRect">
            <a:avLst>
              <a:gd name="adj" fmla="val 60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99657" y="2331244"/>
            <a:ext cx="43437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Voting Example (pos 200, Hap_0)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399657" y="2502694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base=A, gamma=0.95, Q=30 =&gt; vote_A += 0.95 x 0.999 = 0.949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399657" y="2641699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base=A, gamma=0.88, Q=25 =&gt; vote_A += 0.88 x 0.997 = 0.877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399657" y="2780705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R3: base=C, gamma=0.40, Q=10 =&gt; vote_C += 0.40 x 0.900 = 0.360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399657" y="2938760"/>
            <a:ext cx="43437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vote_A=1.826 &gt; vote_C=0.360, consensus = A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294882" y="3258741"/>
            <a:ext cx="4468118" cy="601861"/>
          </a:xfrm>
          <a:prstGeom prst="roundRect">
            <a:avLst>
              <a:gd name="adj" fmla="val 949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90132" y="3353991"/>
            <a:ext cx="4363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Quality Weighting?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90132" y="3525441"/>
            <a:ext cx="43631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bases (Q30: 99.9% accurate) get full vote. Low-quality bases (Q10: 90% accurate) are down-weighted. Prevents errors from corrupting consensus.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750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Model and Hard Read Assignment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3797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Junk Component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220986"/>
            <a:ext cx="3723382" cy="857101"/>
          </a:xfrm>
          <a:prstGeom prst="roundRect">
            <a:avLst>
              <a:gd name="adj" fmla="val 666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335286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95300" y="1519982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junk, every read is forced into some haplotype.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5300" y="1672382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corrupts consensus when reads come from: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1843832"/>
            <a:ext cx="35646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Contamination, rare strains, chimeric reads, paralogs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173337"/>
            <a:ext cx="3723382" cy="778966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" y="2278112"/>
            <a:ext cx="3584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Probability Model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5775" y="2449562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reads as 10% divergent from reference: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85775" y="2607618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P(match ref | junk) = 0.90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5775" y="2727573"/>
            <a:ext cx="35841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P(mismatch | junk)  = 0.10 / 3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047554"/>
            <a:ext cx="3723382" cy="4572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142804"/>
            <a:ext cx="3603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Reads that do not fit any haplotype get high gamma[junk] and are excluded from consensus updates.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4882" y="965746"/>
            <a:ext cx="4557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Read Assignment (Post-EM)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4882" y="1220986"/>
            <a:ext cx="4468118" cy="481905"/>
          </a:xfrm>
          <a:prstGeom prst="roundRect">
            <a:avLst>
              <a:gd name="adj" fmla="val 1185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90132" y="1316236"/>
            <a:ext cx="4363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Soft to Hard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390132" y="1487686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EM converges, convert probabilistic assignments to definitive ones.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294882" y="1798141"/>
            <a:ext cx="4468118" cy="910233"/>
          </a:xfrm>
          <a:prstGeom prst="roundRect">
            <a:avLst>
              <a:gd name="adj" fmla="val 62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90132" y="1893391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read i: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390132" y="2013347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argmax(gamma[i, :])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390132" y="2133302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best_prob = gamma[i, best_k]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390132" y="2253258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best_k == junk: assign junk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390132" y="2373213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best_prob &gt;= 0.90: assign hap_k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390132" y="2493169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mark ambiguous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294882" y="2803624"/>
            <a:ext cx="1438573" cy="378916"/>
          </a:xfrm>
          <a:prstGeom prst="roundRect">
            <a:avLst>
              <a:gd name="adj" fmla="val 100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71082" y="2879824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371082" y="29997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&gt;= 0.90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809655" y="2803624"/>
            <a:ext cx="1438573" cy="378916"/>
          </a:xfrm>
          <a:prstGeom prst="roundRect">
            <a:avLst>
              <a:gd name="adj" fmla="val 1005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85855" y="2879824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885855" y="29997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&lt; 0.90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324427" y="2803624"/>
            <a:ext cx="1438573" cy="378916"/>
          </a:xfrm>
          <a:prstGeom prst="roundRect">
            <a:avLst>
              <a:gd name="adj" fmla="val 100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00627" y="2879824"/>
            <a:ext cx="13118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400627" y="2999780"/>
            <a:ext cx="1311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is junk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294882" y="3277791"/>
            <a:ext cx="4468118" cy="481905"/>
          </a:xfrm>
          <a:prstGeom prst="roundRect">
            <a:avLst>
              <a:gd name="adj" fmla="val 118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90132" y="3373041"/>
            <a:ext cx="4363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Metadata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90132" y="3544491"/>
            <a:ext cx="4363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haplotype gets: weight (pi_k), supporting_reads (count &gt;= 0.90), confidence (mean gamma)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Linking: Building Tracks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486198"/>
            <a:ext cx="4114800" cy="679996"/>
          </a:xfrm>
          <a:prstGeom prst="roundRect">
            <a:avLst>
              <a:gd name="adj" fmla="val 840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60049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785193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window produces independent haplotypes. But a real strain spans the entire contig. We need to link haplotypes that belong to the same strain.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48200" y="1486198"/>
            <a:ext cx="4114800" cy="679996"/>
          </a:xfrm>
          <a:prstGeom prst="roundRect">
            <a:avLst>
              <a:gd name="adj" fmla="val 840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0" y="160049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0" y="1785193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50% window overlap! Adjacent windows share SNV positions. If two haplotypes agree on shared SNVs, they are likely the same strain.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280493"/>
            <a:ext cx="8382000" cy="1118146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404318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Process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4825" y="2627114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1: Hap_A, Hap_B | Window 2: Hap_C, Hap_D | Window 3: Hap_E, Hap_F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4825" y="2798564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haplotypes in overlapping region using shared SNVs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4825" y="2970014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distance &lt;= 2% AND shared &gt;= 3 SNVs: Link them!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4825" y="3141464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Track T0001: A-C-E | Track T0002: B-D-F (spanning full contig)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512939"/>
            <a:ext cx="2717750" cy="881360"/>
          </a:xfrm>
          <a:prstGeom prst="roundRect">
            <a:avLst>
              <a:gd name="adj" fmla="val 64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" y="3608189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Algorithm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" y="3766245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adjacent windows (W1, W2):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76250" y="3872805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shared_snvs = W1 AND W2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76250" y="3979366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(hap_i, hap_j):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76250" y="4085927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 &lt;= 0.02 AND shared &gt;= 3: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6250" y="4192488"/>
            <a:ext cx="257779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link(hap_i, hap_j)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213050" y="3652689"/>
            <a:ext cx="2717750" cy="601861"/>
          </a:xfrm>
          <a:prstGeom prst="roundRect">
            <a:avLst>
              <a:gd name="adj" fmla="val 94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08300" y="3747939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08300" y="3919389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max_link_distance = 2%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308300" y="4039344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min_shared_snvs_for_link = 3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045101" y="3652689"/>
            <a:ext cx="2717750" cy="601861"/>
          </a:xfrm>
          <a:prstGeom prst="roundRect">
            <a:avLst>
              <a:gd name="adj" fmla="val 949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40351" y="3747939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40351" y="3919389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haplotype gets a track_id (T0001, T0002...). Tracks can span the entire contig.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13296"/>
            <a:ext cx="60236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Rescue: Cross-Timepoint Integration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965746"/>
            <a:ext cx="4095750" cy="963662"/>
          </a:xfrm>
          <a:prstGeom prst="roundRect">
            <a:avLst>
              <a:gd name="adj" fmla="val 5931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08004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False Absence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26474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strain at 1% abundance might be: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5300" y="141714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in some timepoints (lucky sampling)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5300" y="1556147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in others (below detection)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95300" y="1695152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creates discontinuous tracking!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024658"/>
            <a:ext cx="4095750" cy="679996"/>
          </a:xfrm>
          <a:prstGeom prst="roundRect">
            <a:avLst>
              <a:gd name="adj" fmla="val 840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300" y="213895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Anchor-Based Rescue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5300" y="2323654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haplotype is confidently detected (&gt;= 20% weight) in ANY timepoint, use it as an anchor to rescue marginal detections elsewhere.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799904"/>
            <a:ext cx="4095750" cy="881360"/>
          </a:xfrm>
          <a:prstGeom prst="roundRect">
            <a:avLst>
              <a:gd name="adj" fmla="val 64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289515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Algorithm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76250" y="3053209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anchors = haps with weight &gt;= 0.20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76250" y="3159770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for each low-weight hap: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76250" y="3266331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matches anchor (&lt;= 1% dist):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6250" y="3372892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RESCUE: boost to 2% min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76250" y="3479453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Re-run E-step with fixed pi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667250" y="965746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4 Timepoints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1207591"/>
            <a:ext cx="4095750" cy="904577"/>
          </a:xfrm>
          <a:prstGeom prst="roundRect">
            <a:avLst>
              <a:gd name="adj" fmla="val 63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131236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    T2     T3     T4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72025" y="147042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Strain A: 65%    58%    62%    55%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72025" y="159037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Strain B: 30%    1.5%   25%    missed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72025" y="1767483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Strain B appears to vanish at T4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72025" y="1887438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T2 boosted to 2%, T4 rescued if signal found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67250" y="2207419"/>
            <a:ext cx="2009775" cy="611088"/>
          </a:xfrm>
          <a:prstGeom prst="roundRect">
            <a:avLst>
              <a:gd name="adj" fmla="val 623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43450" y="2283619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43450" y="2422624"/>
            <a:ext cx="18945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min_weight_for_anchor = 0.20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43450" y="2529185"/>
            <a:ext cx="18945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rescue_match_distance = 0.01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43450" y="2635746"/>
            <a:ext cx="18945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rescued_min_weight = 0.02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753225" y="2260699"/>
            <a:ext cx="2009775" cy="504527"/>
          </a:xfrm>
          <a:prstGeom prst="roundRect">
            <a:avLst>
              <a:gd name="adj" fmla="val 755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29425" y="2336899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829425" y="2475905"/>
            <a:ext cx="189452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in one sample could be noise. But if the same haplotype is 30% elsewhere, it is real.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67250" y="2913757"/>
            <a:ext cx="4095750" cy="601861"/>
          </a:xfrm>
          <a:prstGeom prst="roundRect">
            <a:avLst>
              <a:gd name="adj" fmla="val 949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62500" y="3009007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Clustering (Final Step)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62500" y="3180457"/>
            <a:ext cx="3983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rescue, similar tracks across samples are clustered into lineages (L000001, L000002...) for longitudinal analysis.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Pipeline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4076700" cy="418951"/>
          </a:xfrm>
          <a:prstGeom prst="roundRect">
            <a:avLst>
              <a:gd name="adj" fmla="val 1364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87630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Input and Windowing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95300" y="1022896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VCF + BAM to 50% overlapping windows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81000" y="1295251"/>
            <a:ext cx="4076700" cy="418951"/>
          </a:xfrm>
          <a:prstGeom prst="roundRect">
            <a:avLst>
              <a:gd name="adj" fmla="val 1364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37145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Graph Initialization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5300" y="1518047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overlap graph with Louvain clustering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1790402"/>
            <a:ext cx="4076700" cy="438001"/>
          </a:xfrm>
          <a:prstGeom prst="roundRect">
            <a:avLst>
              <a:gd name="adj" fmla="val 13048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187612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EM Refinement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022723"/>
            <a:ext cx="39056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compute gamma | M: update consensus and pi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304604"/>
            <a:ext cx="4076700" cy="418951"/>
          </a:xfrm>
          <a:prstGeom prst="roundRect">
            <a:avLst>
              <a:gd name="adj" fmla="val 1364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" y="238080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Post-Process and Link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95300" y="2527399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similar haps, link across windows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2799755"/>
            <a:ext cx="4076700" cy="418951"/>
          </a:xfrm>
          <a:prstGeom prst="roundRect">
            <a:avLst>
              <a:gd name="adj" fmla="val 1364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300" y="287595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Longitudinal Rescue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5300" y="3022550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panel rescues low-abundance strains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86300" y="800100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1036290"/>
            <a:ext cx="4076700" cy="462855"/>
          </a:xfrm>
          <a:prstGeom prst="roundRect">
            <a:avLst>
              <a:gd name="adj" fmla="val 1234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1550" y="113154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81550" y="1283940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gives EM a warm start, avoids local optima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86300" y="1575346"/>
            <a:ext cx="4076700" cy="462855"/>
          </a:xfrm>
          <a:prstGeom prst="roundRect">
            <a:avLst>
              <a:gd name="adj" fmla="val 1234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167059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Window Overlap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182299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linking via shared SNVs for contig-spanning tracks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86300" y="2114401"/>
            <a:ext cx="4076700" cy="462855"/>
          </a:xfrm>
          <a:prstGeom prst="roundRect">
            <a:avLst>
              <a:gd name="adj" fmla="val 1234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209651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Model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81550" y="2362051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noise and contamination, prevents consensus corruption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86300" y="2653457"/>
            <a:ext cx="4076700" cy="462855"/>
          </a:xfrm>
          <a:prstGeom prst="roundRect">
            <a:avLst>
              <a:gd name="adj" fmla="val 1234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1550" y="274870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Rescue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81550" y="290110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multi-timepoint data to prevent false absence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86300" y="3192512"/>
            <a:ext cx="4076700" cy="329505"/>
          </a:xfrm>
          <a:prstGeom prst="roundRect">
            <a:avLst>
              <a:gd name="adj" fmla="val 17344"/>
            </a:avLst>
          </a:prstGeom>
          <a:solidFill>
            <a:srgbClr val="0D9488">
              <a:alpha val="3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1075" y="3297287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Track bacterial strain evolution through IBD patient microbiomes with high sensitivity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Haplotyper Code Review</dc:title>
  <dc:subject>Hybrid Graph-Probabilistic Haplotype Reconstruction</dc:subject>
  <dc:creator>Renee Oles</dc:creator>
  <cp:lastModifiedBy>Renee Oles</cp:lastModifiedBy>
  <cp:revision>1</cp:revision>
  <dcterms:created xsi:type="dcterms:W3CDTF">2026-01-08T01:01:34Z</dcterms:created>
  <dcterms:modified xsi:type="dcterms:W3CDTF">2026-01-08T01:01:34Z</dcterms:modified>
</cp:coreProperties>
</file>